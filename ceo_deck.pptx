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charts/chart1.xml" ContentType="application/vnd.openxmlformats-officedocument.drawingml.chart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</p:sldIdLst>
  <p:notesMasterIdLst>
    <p:notesMasterId r:id="rId8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notesMaster" Target="notesMasters/notesMaster1.xml"/><Relationship Id="rId9" Type="http://schemas.openxmlformats.org/officeDocument/2006/relationships/presProps" Target="presProps.xml"/><Relationship Id="rId10" Type="http://schemas.openxmlformats.org/officeDocument/2006/relationships/viewProps" Target="viewProps.xml"/><Relationship Id="rId11" Type="http://schemas.openxmlformats.org/officeDocument/2006/relationships/theme" Target="theme/theme1.xml"/><Relationship Id="rId12" Type="http://schemas.openxmlformats.org/officeDocument/2006/relationships/tableStyles" Target="tableStyles.xml"/></Relationships>
</file>

<file path=ppt/charts/_rels/chart1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1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0"/>
  <c:chart>
    <c:title>
      <c:tx>
        <c:rich>
          <a:bodyPr/>
          <a:lstStyle/>
          <a:p>
            <a:pPr>
              <a:defRPr sz="1200" b="0" i="0" u="none" strike="noStrike">
                <a:solidFill>
                  <a:srgbClr val="1E293B"/>
                </a:solidFill>
                <a:latin typeface="Arial"/>
              </a:defRPr>
            </a:pPr>
            <a:r>
              <a:rPr sz="1200" b="0" i="0" u="none" strike="noStrike">
                <a:solidFill>
                  <a:srgbClr val="1E293B"/>
                </a:solidFill>
                <a:latin typeface="Arial"/>
              </a:rPr>
              <a:t>Estimated Revenue by Category ($)</a:t>
            </a:r>
          </a:p>
        </c:rich>
      </c:tx>
      <c:layout/>
      <c:overlay val="0"/>
    </c:title>
    <c:autoTitleDeleted val="0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Revenue ($)</c:v>
                </c:pt>
              </c:strCache>
            </c:strRef>
          </c:tx>
          <c:spPr>
            <a:solidFill>
              <a:srgbClr val="2E75B6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900" u="none">
                    <a:solidFill>
                      <a:srgbClr val="1E293B"/>
                    </a:solidFill>
                    <a:latin typeface="Arial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dPt>
            <c:idx val="0"/>
            <c:invertIfNegative val="0"/>
            <c:bubble3D val="0"/>
            <c:spPr>
              <a:solidFill>
                <a:srgbClr val="2E75B6"/>
              </a:solidFill>
              <a:effectLst/>
            </c:spPr>
          </c:dPt>
          <c:dPt>
            <c:idx val="1"/>
            <c:invertIfNegative val="0"/>
            <c:bubble3D val="0"/>
            <c:spPr>
              <a:solidFill>
                <a:srgbClr val="14B8A6"/>
              </a:solidFill>
              <a:effectLst/>
            </c:spPr>
          </c:dPt>
          <c:dPt>
            <c:idx val="2"/>
            <c:invertIfNegative val="0"/>
            <c:bubble3D val="0"/>
            <c:spPr>
              <a:solidFill>
                <a:srgbClr val="F59E0B"/>
              </a:solidFill>
              <a:effectLst/>
            </c:spPr>
          </c:dPt>
          <c:dPt>
            <c:idx val="3"/>
            <c:invertIfNegative val="0"/>
            <c:bubble3D val="0"/>
            <c:spPr>
              <a:solidFill>
                <a:srgbClr val="8B5CF6"/>
              </a:solidFill>
              <a:effectLst/>
            </c:spPr>
          </c:dPt>
          <c:dPt>
            <c:idx val="4"/>
            <c:invertIfNegative val="0"/>
            <c:bubble3D val="0"/>
            <c:spPr>
              <a:solidFill>
                <a:srgbClr val="10B981"/>
              </a:solidFill>
              <a:effectLst/>
            </c:spPr>
          </c:dPt>
          <c:dPt>
            <c:idx val="5"/>
            <c:invertIfNegative val="0"/>
            <c:bubble3D val="0"/>
            <c:spPr>
              <a:solidFill>
                <a:srgbClr val="F97316"/>
              </a:solidFill>
              <a:effectLst/>
            </c:spPr>
          </c:dPt>
          <c:cat>
            <c:multiLvlStrRef>
              <c:f>Sheet1!$A$2:$A$7</c:f>
              <c:multiLvlStrCache>
                <c:ptCount val="6"/>
                <c:lvl>
                  <c:pt idx="0">
                    <c:v>Coffee</c:v>
                  </c:pt>
                  <c:pt idx="1">
                    <c:v>Tea</c:v>
                  </c:pt>
                  <c:pt idx="2">
                    <c:v>Bakery</c:v>
                  </c:pt>
                  <c:pt idx="3">
                    <c:v>Drinking Choc</c:v>
                  </c:pt>
                  <c:pt idx="4">
                    <c:v>Flavours</c:v>
                  </c:pt>
                  <c:pt idx="5">
                    <c:v>Loose Tea</c:v>
                  </c:pt>
                </c:lvl>
              </c:multiLvlStrCache>
            </c:multiLvlStrRef>
          </c:cat>
          <c:val>
            <c:numRef>
              <c:f>Sheet1!$B$2:$B$7</c:f>
              <c:numCache>
                <c:formatCode>General</c:formatCode>
                <c:ptCount val="6"/>
                <c:pt idx="0">
                  <c:v>269952</c:v>
                </c:pt>
                <c:pt idx="1">
                  <c:v>196406</c:v>
                </c:pt>
                <c:pt idx="2">
                  <c:v>82316</c:v>
                </c:pt>
                <c:pt idx="3">
                  <c:v>72416</c:v>
                </c:pt>
                <c:pt idx="4">
                  <c:v>10168</c:v>
                </c:pt>
                <c:pt idx="5">
                  <c:v>1048</c:v>
                </c:pt>
              </c:numCache>
            </c:numRef>
          </c:val>
        </c:ser>
        <c:dLbls>
          <c:numFmt formatCode="#,##0" sourceLinked="0"/>
          <c:txPr>
            <a:bodyPr/>
            <a:lstStyle/>
            <a:p>
              <a:pPr>
                <a:defRPr b="0" i="0" strike="noStrike" sz="900" u="none">
                  <a:solidFill>
                    <a:srgbClr val="1E293B"/>
                  </a:solidFill>
                  <a:latin typeface="Arial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150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64748B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</c:scaling>
        <c:delete val="0"/>
        <c:axPos val="l"/>
        <c:majorGridlines>
          <c:spPr>
            <a:ln w="6350" cap="flat">
              <a:solidFill>
                <a:srgbClr val="E2E8F0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64748B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</c:chart>
  <c:spPr>
    <a:solidFill>
      <a:srgbClr val="FFFFFF"/>
    </a:solidFill>
    <a:ln>
      <a:noFill/>
    </a:ln>
    <a:effectLst/>
  </c:sp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1.xm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B2A4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64592" cy="5143500"/>
          </a:xfrm>
          <a:prstGeom prst="rect">
            <a:avLst/>
          </a:prstGeom>
          <a:solidFill>
            <a:srgbClr val="2E75B6"/>
          </a:solidFill>
          <a:ln w="12700">
            <a:solidFill>
              <a:srgbClr val="2E75B6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1005840" y="1737360"/>
            <a:ext cx="1005840" cy="1005840"/>
          </a:xfrm>
          <a:prstGeom prst="ellipse">
            <a:avLst/>
          </a:prstGeom>
          <a:solidFill>
            <a:srgbClr val="2E75B6"/>
          </a:solidFill>
          <a:ln w="12700">
            <a:solidFill>
              <a:srgbClr val="2E75B6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1143000" y="1874520"/>
            <a:ext cx="731520" cy="731520"/>
          </a:xfrm>
          <a:prstGeom prst="ellipse">
            <a:avLst/>
          </a:prstGeom>
          <a:solidFill>
            <a:srgbClr val="1B2A4A"/>
          </a:solidFill>
          <a:ln w="12700">
            <a:solidFill>
              <a:srgbClr val="1B2A4A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2377440" y="1188720"/>
            <a:ext cx="64008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600" b="1" spc="40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BRIGHT COFFEE SHOP</a:t>
            </a:r>
            <a:endParaRPr lang="en-US" sz="3600" dirty="0"/>
          </a:p>
        </p:txBody>
      </p:sp>
      <p:sp>
        <p:nvSpPr>
          <p:cNvPr id="6" name="Text 4"/>
          <p:cNvSpPr/>
          <p:nvPr/>
        </p:nvSpPr>
        <p:spPr>
          <a:xfrm>
            <a:off x="2377440" y="1920240"/>
            <a:ext cx="6400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i="1" dirty="0">
                <a:solidFill>
                  <a:srgbClr val="AABD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Analysis — CEO Executive Deck</a:t>
            </a:r>
            <a:endParaRPr lang="en-US" sz="1800" dirty="0"/>
          </a:p>
        </p:txBody>
      </p:sp>
      <p:sp>
        <p:nvSpPr>
          <p:cNvPr id="7" name="Shape 5"/>
          <p:cNvSpPr/>
          <p:nvPr/>
        </p:nvSpPr>
        <p:spPr>
          <a:xfrm>
            <a:off x="2377440" y="2514600"/>
            <a:ext cx="5943600" cy="36576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2377440" y="2697480"/>
            <a:ext cx="6400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Period: </a:t>
            </a:r>
            <a:pPr indent="0" marL="0">
              <a:buNone/>
            </a:pPr>
            <a:r>
              <a:rPr lang="en-US" sz="1300" dirty="0">
                <a:solidFill>
                  <a:srgbClr val="D0DC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January – June 2023</a:t>
            </a:r>
            <a:pPr indent="0" marL="0">
              <a:buNone/>
            </a:pPr>
            <a:r>
              <a:rPr lang="en-US" sz="13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|   </a:t>
            </a:r>
            <a:pPr indent="0" marL="0">
              <a:buNone/>
            </a:pPr>
            <a:r>
              <a:rPr lang="en-US" sz="1300" b="1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Stores: </a:t>
            </a:r>
            <a:pPr indent="0" marL="0">
              <a:buNone/>
            </a:pPr>
            <a:r>
              <a:rPr lang="en-US" sz="1300" dirty="0">
                <a:solidFill>
                  <a:srgbClr val="D0DC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Lower Manhattan  ·  Hell's Kitchen  ·  Astoria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274320" y="4754880"/>
            <a:ext cx="8595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A7B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Prepared from: Coffee_Shop_Data.xlsx  |  Databricks SQL Analysis</a:t>
            </a:r>
            <a:endParaRPr lang="en-US" sz="10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4F7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1B2A4A"/>
          </a:solidFill>
          <a:ln w="12700">
            <a:solidFill>
              <a:srgbClr val="1B2A4A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0"/>
            <a:ext cx="82296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spc="30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DATASET AT A GLANCE</a:t>
            </a:r>
            <a:endParaRPr lang="en-US" sz="1800" dirty="0"/>
          </a:p>
        </p:txBody>
      </p:sp>
      <p:sp>
        <p:nvSpPr>
          <p:cNvPr id="4" name="Shape 2"/>
          <p:cNvSpPr/>
          <p:nvPr/>
        </p:nvSpPr>
        <p:spPr>
          <a:xfrm>
            <a:off x="274320" y="914400"/>
            <a:ext cx="2011680" cy="201168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AF4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0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274320" y="914400"/>
            <a:ext cx="2011680" cy="91440"/>
          </a:xfrm>
          <a:prstGeom prst="rect">
            <a:avLst/>
          </a:prstGeom>
          <a:solidFill>
            <a:srgbClr val="2E75B6"/>
          </a:solidFill>
          <a:ln w="12700">
            <a:solidFill>
              <a:srgbClr val="2E75B6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274320" y="1143000"/>
            <a:ext cx="201168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2E75B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 Months</a:t>
            </a:r>
            <a:endParaRPr lang="en-US" sz="2200" dirty="0"/>
          </a:p>
        </p:txBody>
      </p:sp>
      <p:sp>
        <p:nvSpPr>
          <p:cNvPr id="7" name="Text 5"/>
          <p:cNvSpPr/>
          <p:nvPr/>
        </p:nvSpPr>
        <p:spPr>
          <a:xfrm>
            <a:off x="274320" y="1737360"/>
            <a:ext cx="20116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Date Range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274320" y="2148840"/>
            <a:ext cx="20116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Jan – Jun 2023</a:t>
            </a:r>
            <a:endParaRPr lang="en-US" sz="1000" dirty="0"/>
          </a:p>
        </p:txBody>
      </p:sp>
      <p:sp>
        <p:nvSpPr>
          <p:cNvPr id="9" name="Shape 7"/>
          <p:cNvSpPr/>
          <p:nvPr/>
        </p:nvSpPr>
        <p:spPr>
          <a:xfrm>
            <a:off x="2450592" y="914400"/>
            <a:ext cx="2011680" cy="201168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AF4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0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2450592" y="914400"/>
            <a:ext cx="2011680" cy="91440"/>
          </a:xfrm>
          <a:prstGeom prst="rect">
            <a:avLst/>
          </a:prstGeom>
          <a:solidFill>
            <a:srgbClr val="10B981"/>
          </a:solidFill>
          <a:ln w="12700">
            <a:solidFill>
              <a:srgbClr val="10B981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2450592" y="1143000"/>
            <a:ext cx="201168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10B98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 Stores</a:t>
            </a:r>
            <a:endParaRPr lang="en-US" sz="2200" dirty="0"/>
          </a:p>
        </p:txBody>
      </p:sp>
      <p:sp>
        <p:nvSpPr>
          <p:cNvPr id="12" name="Text 10"/>
          <p:cNvSpPr/>
          <p:nvPr/>
        </p:nvSpPr>
        <p:spPr>
          <a:xfrm>
            <a:off x="2450592" y="1737360"/>
            <a:ext cx="20116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Store Locations</a:t>
            </a:r>
            <a:endParaRPr lang="en-US" sz="1200" dirty="0"/>
          </a:p>
        </p:txBody>
      </p:sp>
      <p:sp>
        <p:nvSpPr>
          <p:cNvPr id="13" name="Text 11"/>
          <p:cNvSpPr/>
          <p:nvPr/>
        </p:nvSpPr>
        <p:spPr>
          <a:xfrm>
            <a:off x="2450592" y="2148840"/>
            <a:ext cx="20116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NYC-based</a:t>
            </a:r>
            <a:endParaRPr lang="en-US" sz="1000" dirty="0"/>
          </a:p>
        </p:txBody>
      </p:sp>
      <p:sp>
        <p:nvSpPr>
          <p:cNvPr id="14" name="Shape 12"/>
          <p:cNvSpPr/>
          <p:nvPr/>
        </p:nvSpPr>
        <p:spPr>
          <a:xfrm>
            <a:off x="4626864" y="914400"/>
            <a:ext cx="2011680" cy="201168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AF4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0000"/>
              </a:srgbClr>
            </a:outerShdw>
          </a:effectLst>
        </p:spPr>
      </p:sp>
      <p:sp>
        <p:nvSpPr>
          <p:cNvPr id="15" name="Shape 13"/>
          <p:cNvSpPr/>
          <p:nvPr/>
        </p:nvSpPr>
        <p:spPr>
          <a:xfrm>
            <a:off x="4626864" y="914400"/>
            <a:ext cx="2011680" cy="91440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4626864" y="1143000"/>
            <a:ext cx="201168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$0.80 – $45</a:t>
            </a:r>
            <a:endParaRPr lang="en-US" sz="2200" dirty="0"/>
          </a:p>
        </p:txBody>
      </p:sp>
      <p:sp>
        <p:nvSpPr>
          <p:cNvPr id="17" name="Text 15"/>
          <p:cNvSpPr/>
          <p:nvPr/>
        </p:nvSpPr>
        <p:spPr>
          <a:xfrm>
            <a:off x="4626864" y="1737360"/>
            <a:ext cx="20116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Price Range</a:t>
            </a:r>
            <a:endParaRPr lang="en-US" sz="1200" dirty="0"/>
          </a:p>
        </p:txBody>
      </p:sp>
      <p:sp>
        <p:nvSpPr>
          <p:cNvPr id="18" name="Text 16"/>
          <p:cNvSpPr/>
          <p:nvPr/>
        </p:nvSpPr>
        <p:spPr>
          <a:xfrm>
            <a:off x="4626864" y="2148840"/>
            <a:ext cx="20116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 unit sold</a:t>
            </a:r>
            <a:endParaRPr lang="en-US" sz="1000" dirty="0"/>
          </a:p>
        </p:txBody>
      </p:sp>
      <p:sp>
        <p:nvSpPr>
          <p:cNvPr id="19" name="Shape 17"/>
          <p:cNvSpPr/>
          <p:nvPr/>
        </p:nvSpPr>
        <p:spPr>
          <a:xfrm>
            <a:off x="6803136" y="914400"/>
            <a:ext cx="2011680" cy="201168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AF4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0000"/>
              </a:srgbClr>
            </a:outerShdw>
          </a:effectLst>
        </p:spPr>
      </p:sp>
      <p:sp>
        <p:nvSpPr>
          <p:cNvPr id="20" name="Shape 18"/>
          <p:cNvSpPr/>
          <p:nvPr/>
        </p:nvSpPr>
        <p:spPr>
          <a:xfrm>
            <a:off x="6803136" y="914400"/>
            <a:ext cx="2011680" cy="91440"/>
          </a:xfrm>
          <a:prstGeom prst="rect">
            <a:avLst/>
          </a:prstGeom>
          <a:solidFill>
            <a:srgbClr val="8B5CF6"/>
          </a:solidFill>
          <a:ln w="12700">
            <a:solidFill>
              <a:srgbClr val="8B5CF6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6803136" y="1143000"/>
            <a:ext cx="201168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8B5C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Databricks</a:t>
            </a:r>
            <a:endParaRPr lang="en-US" sz="2200" dirty="0"/>
          </a:p>
        </p:txBody>
      </p:sp>
      <p:sp>
        <p:nvSpPr>
          <p:cNvPr id="22" name="Text 20"/>
          <p:cNvSpPr/>
          <p:nvPr/>
        </p:nvSpPr>
        <p:spPr>
          <a:xfrm>
            <a:off x="6803136" y="1737360"/>
            <a:ext cx="20116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Source</a:t>
            </a:r>
            <a:endParaRPr lang="en-US" sz="1200" dirty="0"/>
          </a:p>
        </p:txBody>
      </p:sp>
      <p:sp>
        <p:nvSpPr>
          <p:cNvPr id="23" name="Text 21"/>
          <p:cNvSpPr/>
          <p:nvPr/>
        </p:nvSpPr>
        <p:spPr>
          <a:xfrm>
            <a:off x="6803136" y="2148840"/>
            <a:ext cx="20116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SQL-cleaned table</a:t>
            </a:r>
            <a:endParaRPr lang="en-US" sz="1000" dirty="0"/>
          </a:p>
        </p:txBody>
      </p:sp>
      <p:sp>
        <p:nvSpPr>
          <p:cNvPr id="24" name="Shape 22"/>
          <p:cNvSpPr/>
          <p:nvPr/>
        </p:nvSpPr>
        <p:spPr>
          <a:xfrm>
            <a:off x="274320" y="3200400"/>
            <a:ext cx="8595360" cy="1463040"/>
          </a:xfrm>
          <a:prstGeom prst="rect">
            <a:avLst/>
          </a:prstGeom>
          <a:solidFill>
            <a:srgbClr val="EBF1FB"/>
          </a:solidFill>
          <a:ln w="12700">
            <a:solidFill>
              <a:srgbClr val="C5D8F5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502920" y="3310128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2E75B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 CONTEXT</a:t>
            </a:r>
            <a:endParaRPr lang="en-US" sz="1000" dirty="0"/>
          </a:p>
        </p:txBody>
      </p:sp>
      <p:sp>
        <p:nvSpPr>
          <p:cNvPr id="26" name="Text 24"/>
          <p:cNvSpPr/>
          <p:nvPr/>
        </p:nvSpPr>
        <p:spPr>
          <a:xfrm>
            <a:off x="502920" y="3611880"/>
            <a:ext cx="822960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dataset was extracted from a cleaned Databricks table (</a:t>
            </a:r>
            <a:pPr indent="0" marL="0">
              <a:buNone/>
            </a:pPr>
            <a:r>
              <a:rPr lang="en-US" sz="1200" b="1" dirty="0">
                <a:solidFill>
                  <a:srgbClr val="2E75B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workspace.default.coffee_shop_clean</a:t>
            </a:r>
            <a:pPr indent="0" marL="0">
              <a:buNone/>
            </a:pPr>
            <a:r>
              <a:rPr lang="en-US" sz="12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) and covers all three Bright Coffee Shop locations across a full six-month trading window. Exploratory SQL was run to validate date ranges, product catalogues, pricing boundaries, and transaction volumes before dashboard build.</a:t>
            </a:r>
            <a:endParaRPr lang="en-US" sz="12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4F7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1B2A4A"/>
          </a:solidFill>
          <a:ln w="12700">
            <a:solidFill>
              <a:srgbClr val="1B2A4A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0"/>
            <a:ext cx="82296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spc="30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SQL METHODOLOGY</a:t>
            </a:r>
            <a:endParaRPr lang="en-US" sz="1800" dirty="0"/>
          </a:p>
        </p:txBody>
      </p:sp>
      <p:sp>
        <p:nvSpPr>
          <p:cNvPr id="4" name="Shape 2"/>
          <p:cNvSpPr/>
          <p:nvPr/>
        </p:nvSpPr>
        <p:spPr>
          <a:xfrm>
            <a:off x="274320" y="868680"/>
            <a:ext cx="4160520" cy="1170432"/>
          </a:xfrm>
          <a:prstGeom prst="rect">
            <a:avLst/>
          </a:prstGeom>
          <a:solidFill>
            <a:srgbClr val="FFFFFF"/>
          </a:solidFill>
          <a:ln w="12700">
            <a:solidFill>
              <a:srgbClr val="DDE6F5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0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274320" y="868680"/>
            <a:ext cx="502920" cy="1170432"/>
          </a:xfrm>
          <a:prstGeom prst="rect">
            <a:avLst/>
          </a:prstGeom>
          <a:solidFill>
            <a:srgbClr val="2E75B6"/>
          </a:solidFill>
          <a:ln w="12700">
            <a:solidFill>
              <a:srgbClr val="2E75B6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274320" y="1216152"/>
            <a:ext cx="5029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01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868680" y="960120"/>
            <a:ext cx="3429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Preview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868680" y="1307592"/>
            <a:ext cx="34290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SELECT * … LIMIT 10 to inspect column structure and data types.</a:t>
            </a:r>
            <a:endParaRPr lang="en-US" sz="1050" dirty="0"/>
          </a:p>
        </p:txBody>
      </p:sp>
      <p:sp>
        <p:nvSpPr>
          <p:cNvPr id="9" name="Shape 7"/>
          <p:cNvSpPr/>
          <p:nvPr/>
        </p:nvSpPr>
        <p:spPr>
          <a:xfrm>
            <a:off x="274320" y="2194560"/>
            <a:ext cx="4160520" cy="1170432"/>
          </a:xfrm>
          <a:prstGeom prst="rect">
            <a:avLst/>
          </a:prstGeom>
          <a:solidFill>
            <a:srgbClr val="FFFFFF"/>
          </a:solidFill>
          <a:ln w="12700">
            <a:solidFill>
              <a:srgbClr val="DDE6F5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0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274320" y="2194560"/>
            <a:ext cx="502920" cy="1170432"/>
          </a:xfrm>
          <a:prstGeom prst="rect">
            <a:avLst/>
          </a:prstGeom>
          <a:solidFill>
            <a:srgbClr val="2E75B6"/>
          </a:solidFill>
          <a:ln w="12700">
            <a:solidFill>
              <a:srgbClr val="2E75B6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274320" y="2542032"/>
            <a:ext cx="5029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02</a:t>
            </a:r>
            <a:endParaRPr lang="en-US" sz="1600" dirty="0"/>
          </a:p>
        </p:txBody>
      </p:sp>
      <p:sp>
        <p:nvSpPr>
          <p:cNvPr id="12" name="Text 10"/>
          <p:cNvSpPr/>
          <p:nvPr/>
        </p:nvSpPr>
        <p:spPr>
          <a:xfrm>
            <a:off x="868680" y="2286000"/>
            <a:ext cx="3429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Date Range Check</a:t>
            </a:r>
            <a:endParaRPr lang="en-US" sz="1300" dirty="0"/>
          </a:p>
        </p:txBody>
      </p:sp>
      <p:sp>
        <p:nvSpPr>
          <p:cNvPr id="13" name="Text 11"/>
          <p:cNvSpPr/>
          <p:nvPr/>
        </p:nvSpPr>
        <p:spPr>
          <a:xfrm>
            <a:off x="868680" y="2633472"/>
            <a:ext cx="34290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MIN / MAX on transaction_date confirmed 6-month window: 2023-01-01 to 2023-06-30.</a:t>
            </a:r>
            <a:endParaRPr lang="en-US" sz="1050" dirty="0"/>
          </a:p>
        </p:txBody>
      </p:sp>
      <p:sp>
        <p:nvSpPr>
          <p:cNvPr id="14" name="Shape 12"/>
          <p:cNvSpPr/>
          <p:nvPr/>
        </p:nvSpPr>
        <p:spPr>
          <a:xfrm>
            <a:off x="274320" y="3520440"/>
            <a:ext cx="4160520" cy="1170432"/>
          </a:xfrm>
          <a:prstGeom prst="rect">
            <a:avLst/>
          </a:prstGeom>
          <a:solidFill>
            <a:srgbClr val="FFFFFF"/>
          </a:solidFill>
          <a:ln w="12700">
            <a:solidFill>
              <a:srgbClr val="DDE6F5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0000"/>
              </a:srgbClr>
            </a:outerShdw>
          </a:effectLst>
        </p:spPr>
      </p:sp>
      <p:sp>
        <p:nvSpPr>
          <p:cNvPr id="15" name="Shape 13"/>
          <p:cNvSpPr/>
          <p:nvPr/>
        </p:nvSpPr>
        <p:spPr>
          <a:xfrm>
            <a:off x="274320" y="3520440"/>
            <a:ext cx="502920" cy="1170432"/>
          </a:xfrm>
          <a:prstGeom prst="rect">
            <a:avLst/>
          </a:prstGeom>
          <a:solidFill>
            <a:srgbClr val="2E75B6"/>
          </a:solidFill>
          <a:ln w="12700">
            <a:solidFill>
              <a:srgbClr val="2E75B6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274320" y="3867912"/>
            <a:ext cx="5029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03</a:t>
            </a:r>
            <a:endParaRPr lang="en-US" sz="1600" dirty="0"/>
          </a:p>
        </p:txBody>
      </p:sp>
      <p:sp>
        <p:nvSpPr>
          <p:cNvPr id="17" name="Text 15"/>
          <p:cNvSpPr/>
          <p:nvPr/>
        </p:nvSpPr>
        <p:spPr>
          <a:xfrm>
            <a:off x="868680" y="3611880"/>
            <a:ext cx="3429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Store Identification</a:t>
            </a:r>
            <a:endParaRPr lang="en-US" sz="1300" dirty="0"/>
          </a:p>
        </p:txBody>
      </p:sp>
      <p:sp>
        <p:nvSpPr>
          <p:cNvPr id="18" name="Text 16"/>
          <p:cNvSpPr/>
          <p:nvPr/>
        </p:nvSpPr>
        <p:spPr>
          <a:xfrm>
            <a:off x="868680" y="3959352"/>
            <a:ext cx="34290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DISTINCT on store_location revealed 3 NYC stores: Lower Manhattan, Hell's Kitchen, Astoria.</a:t>
            </a:r>
            <a:endParaRPr lang="en-US" sz="1050" dirty="0"/>
          </a:p>
        </p:txBody>
      </p:sp>
      <p:sp>
        <p:nvSpPr>
          <p:cNvPr id="19" name="Shape 17"/>
          <p:cNvSpPr/>
          <p:nvPr/>
        </p:nvSpPr>
        <p:spPr>
          <a:xfrm>
            <a:off x="4709160" y="868680"/>
            <a:ext cx="4160520" cy="1170432"/>
          </a:xfrm>
          <a:prstGeom prst="rect">
            <a:avLst/>
          </a:prstGeom>
          <a:solidFill>
            <a:srgbClr val="FFFFFF"/>
          </a:solidFill>
          <a:ln w="12700">
            <a:solidFill>
              <a:srgbClr val="DDE6F5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0000"/>
              </a:srgbClr>
            </a:outerShdw>
          </a:effectLst>
        </p:spPr>
      </p:sp>
      <p:sp>
        <p:nvSpPr>
          <p:cNvPr id="20" name="Shape 18"/>
          <p:cNvSpPr/>
          <p:nvPr/>
        </p:nvSpPr>
        <p:spPr>
          <a:xfrm>
            <a:off x="4709160" y="868680"/>
            <a:ext cx="502920" cy="1170432"/>
          </a:xfrm>
          <a:prstGeom prst="rect">
            <a:avLst/>
          </a:prstGeom>
          <a:solidFill>
            <a:srgbClr val="2E75B6"/>
          </a:solidFill>
          <a:ln w="12700">
            <a:solidFill>
              <a:srgbClr val="2E75B6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4709160" y="1216152"/>
            <a:ext cx="5029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04</a:t>
            </a:r>
            <a:endParaRPr lang="en-US" sz="1600" dirty="0"/>
          </a:p>
        </p:txBody>
      </p:sp>
      <p:sp>
        <p:nvSpPr>
          <p:cNvPr id="22" name="Text 20"/>
          <p:cNvSpPr/>
          <p:nvPr/>
        </p:nvSpPr>
        <p:spPr>
          <a:xfrm>
            <a:off x="5303520" y="960120"/>
            <a:ext cx="3429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Product Catalogue</a:t>
            </a:r>
            <a:endParaRPr lang="en-US" sz="1300" dirty="0"/>
          </a:p>
        </p:txBody>
      </p:sp>
      <p:sp>
        <p:nvSpPr>
          <p:cNvPr id="23" name="Text 21"/>
          <p:cNvSpPr/>
          <p:nvPr/>
        </p:nvSpPr>
        <p:spPr>
          <a:xfrm>
            <a:off x="5303520" y="1307592"/>
            <a:ext cx="34290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DISTINCT queries on product_category, product_type, and product_detail mapped the full menu hierarchy.</a:t>
            </a:r>
            <a:endParaRPr lang="en-US" sz="1050" dirty="0"/>
          </a:p>
        </p:txBody>
      </p:sp>
      <p:sp>
        <p:nvSpPr>
          <p:cNvPr id="24" name="Shape 22"/>
          <p:cNvSpPr/>
          <p:nvPr/>
        </p:nvSpPr>
        <p:spPr>
          <a:xfrm>
            <a:off x="4709160" y="2194560"/>
            <a:ext cx="4160520" cy="1170432"/>
          </a:xfrm>
          <a:prstGeom prst="rect">
            <a:avLst/>
          </a:prstGeom>
          <a:solidFill>
            <a:srgbClr val="FFFFFF"/>
          </a:solidFill>
          <a:ln w="12700">
            <a:solidFill>
              <a:srgbClr val="DDE6F5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0000"/>
              </a:srgbClr>
            </a:outerShdw>
          </a:effectLst>
        </p:spPr>
      </p:sp>
      <p:sp>
        <p:nvSpPr>
          <p:cNvPr id="25" name="Shape 23"/>
          <p:cNvSpPr/>
          <p:nvPr/>
        </p:nvSpPr>
        <p:spPr>
          <a:xfrm>
            <a:off x="4709160" y="2194560"/>
            <a:ext cx="502920" cy="1170432"/>
          </a:xfrm>
          <a:prstGeom prst="rect">
            <a:avLst/>
          </a:prstGeom>
          <a:solidFill>
            <a:srgbClr val="2E75B6"/>
          </a:solidFill>
          <a:ln w="12700">
            <a:solidFill>
              <a:srgbClr val="2E75B6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4709160" y="2542032"/>
            <a:ext cx="5029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05</a:t>
            </a:r>
            <a:endParaRPr lang="en-US" sz="1600" dirty="0"/>
          </a:p>
        </p:txBody>
      </p:sp>
      <p:sp>
        <p:nvSpPr>
          <p:cNvPr id="27" name="Text 25"/>
          <p:cNvSpPr/>
          <p:nvPr/>
        </p:nvSpPr>
        <p:spPr>
          <a:xfrm>
            <a:off x="5303520" y="2286000"/>
            <a:ext cx="3429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Price Boundaries</a:t>
            </a:r>
            <a:endParaRPr lang="en-US" sz="1300" dirty="0"/>
          </a:p>
        </p:txBody>
      </p:sp>
      <p:sp>
        <p:nvSpPr>
          <p:cNvPr id="28" name="Text 26"/>
          <p:cNvSpPr/>
          <p:nvPr/>
        </p:nvSpPr>
        <p:spPr>
          <a:xfrm>
            <a:off x="5303520" y="2633472"/>
            <a:ext cx="34290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MIN / MAX on unit_price confirmed range of $0.80 (cheapest) to $45.00 (most expensive).</a:t>
            </a:r>
            <a:endParaRPr lang="en-US" sz="1050" dirty="0"/>
          </a:p>
        </p:txBody>
      </p:sp>
      <p:sp>
        <p:nvSpPr>
          <p:cNvPr id="29" name="Shape 27"/>
          <p:cNvSpPr/>
          <p:nvPr/>
        </p:nvSpPr>
        <p:spPr>
          <a:xfrm>
            <a:off x="4709160" y="3520440"/>
            <a:ext cx="4160520" cy="1170432"/>
          </a:xfrm>
          <a:prstGeom prst="rect">
            <a:avLst/>
          </a:prstGeom>
          <a:solidFill>
            <a:srgbClr val="FFFFFF"/>
          </a:solidFill>
          <a:ln w="12700">
            <a:solidFill>
              <a:srgbClr val="DDE6F5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0000"/>
              </a:srgbClr>
            </a:outerShdw>
          </a:effectLst>
        </p:spPr>
      </p:sp>
      <p:sp>
        <p:nvSpPr>
          <p:cNvPr id="30" name="Shape 28"/>
          <p:cNvSpPr/>
          <p:nvPr/>
        </p:nvSpPr>
        <p:spPr>
          <a:xfrm>
            <a:off x="4709160" y="3520440"/>
            <a:ext cx="502920" cy="1170432"/>
          </a:xfrm>
          <a:prstGeom prst="rect">
            <a:avLst/>
          </a:prstGeom>
          <a:solidFill>
            <a:srgbClr val="2E75B6"/>
          </a:solidFill>
          <a:ln w="12700">
            <a:solidFill>
              <a:srgbClr val="2E75B6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4709160" y="3867912"/>
            <a:ext cx="5029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06</a:t>
            </a:r>
            <a:endParaRPr lang="en-US" sz="1600" dirty="0"/>
          </a:p>
        </p:txBody>
      </p:sp>
      <p:sp>
        <p:nvSpPr>
          <p:cNvPr id="32" name="Text 30"/>
          <p:cNvSpPr/>
          <p:nvPr/>
        </p:nvSpPr>
        <p:spPr>
          <a:xfrm>
            <a:off x="5303520" y="3611880"/>
            <a:ext cx="3429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Volume Check</a:t>
            </a:r>
            <a:endParaRPr lang="en-US" sz="1300" dirty="0"/>
          </a:p>
        </p:txBody>
      </p:sp>
      <p:sp>
        <p:nvSpPr>
          <p:cNvPr id="33" name="Text 31"/>
          <p:cNvSpPr/>
          <p:nvPr/>
        </p:nvSpPr>
        <p:spPr>
          <a:xfrm>
            <a:off x="5303520" y="3959352"/>
            <a:ext cx="34290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COUNT(*) vs COUNT(DISTINCT transaction_id) verified row integrity and total sales volume.</a:t>
            </a:r>
            <a:endParaRPr lang="en-US" sz="105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4F7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1B2A4A"/>
          </a:solidFill>
          <a:ln w="12700">
            <a:solidFill>
              <a:srgbClr val="1B2A4A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0"/>
            <a:ext cx="82296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spc="30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PRODUCT &amp; REVENUE BREAKDOWN</a:t>
            </a:r>
            <a:endParaRPr lang="en-US" sz="1800" dirty="0"/>
          </a:p>
        </p:txBody>
      </p:sp>
      <p:graphicFrame>
        <p:nvGraphicFramePr>
          <p:cNvPr id="4" name="Chart 0" descr=""/>
          <p:cNvGraphicFramePr/>
          <p:nvPr/>
        </p:nvGraphicFramePr>
        <p:xfrm>
          <a:off x="274320" y="777240"/>
          <a:ext cx="5303520" cy="402336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graphicFrame>
        <p:nvGraphicFramePr>
          <p:cNvPr id="5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852160" y="822960"/>
          <a:ext cx="3017520" cy="3931920"/>
        </p:xfrm>
        <a:graphic>
          <a:graphicData uri="http://schemas.openxmlformats.org/drawingml/2006/table">
            <a:tbl>
              <a:tblPr/>
              <a:tblGrid>
                <a:gridCol w="1920240"/>
                <a:gridCol w="1097280"/>
              </a:tblGrid>
              <a:tr h="50292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Category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DE6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E6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E6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E6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2A4A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Price Range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DE6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E6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E6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E6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2A4A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Coffee (Gourmet Brewed, Espresso, Drip)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DE6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E6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E6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E6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$2.00 – $9.00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DE6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E6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E6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E6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Tea (Chai, Green, Black, Herbal)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DE6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E6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E6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E6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$2.50 – $5.50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DE6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E6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E6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E6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Bakery (Scones, Biscotti)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DE6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E6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E6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E6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$1.75 – $3.50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DE6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E6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E6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E6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Drinking Chocolate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DE6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E6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E6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E6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$3.25 – $4.50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DE6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E6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E6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E6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Flavours &amp; Syrups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DE6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E6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E6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E6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$0.80 – $1.50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DE6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E6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E6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E6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Loose Tea (Specialty)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DE6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E6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E6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E6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$9.00 – $45.00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DE6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E6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E6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E6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4F7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1B2A4A"/>
          </a:solidFill>
          <a:ln w="12700">
            <a:solidFill>
              <a:srgbClr val="1B2A4A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0"/>
            <a:ext cx="82296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spc="30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 FINDINGS &amp; INSIGHTS</a:t>
            </a:r>
            <a:endParaRPr lang="en-US" sz="1800" dirty="0"/>
          </a:p>
        </p:txBody>
      </p:sp>
      <p:sp>
        <p:nvSpPr>
          <p:cNvPr id="4" name="Shape 2"/>
          <p:cNvSpPr/>
          <p:nvPr/>
        </p:nvSpPr>
        <p:spPr>
          <a:xfrm>
            <a:off x="274320" y="841248"/>
            <a:ext cx="4160520" cy="1828800"/>
          </a:xfrm>
          <a:prstGeom prst="rect">
            <a:avLst/>
          </a:prstGeom>
          <a:solidFill>
            <a:srgbClr val="FFFFFF"/>
          </a:solidFill>
          <a:ln w="12700">
            <a:solidFill>
              <a:srgbClr val="DDE6F5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0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274320" y="841248"/>
            <a:ext cx="4160520" cy="73152"/>
          </a:xfrm>
          <a:prstGeom prst="rect">
            <a:avLst/>
          </a:prstGeom>
          <a:solidFill>
            <a:srgbClr val="2E75B6"/>
          </a:solidFill>
          <a:ln w="12700">
            <a:solidFill>
              <a:srgbClr val="2E75B6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438912" y="1042416"/>
            <a:ext cx="502920" cy="502920"/>
          </a:xfrm>
          <a:prstGeom prst="ellipse">
            <a:avLst/>
          </a:prstGeom>
          <a:solidFill>
            <a:srgbClr val="2E75B6"/>
          </a:solidFill>
          <a:ln w="12700">
            <a:solidFill>
              <a:srgbClr val="2E75B6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438912" y="1042416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000000"/>
                </a:solidFill>
              </a:rPr>
              <a:t>☕</a:t>
            </a:r>
            <a:endParaRPr lang="en-US" sz="1800" dirty="0"/>
          </a:p>
        </p:txBody>
      </p:sp>
      <p:sp>
        <p:nvSpPr>
          <p:cNvPr id="8" name="Text 6"/>
          <p:cNvSpPr/>
          <p:nvPr/>
        </p:nvSpPr>
        <p:spPr>
          <a:xfrm>
            <a:off x="1024128" y="1042416"/>
            <a:ext cx="32461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Coffee Dominates Revenue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438912" y="1645920"/>
            <a:ext cx="384048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Gourmet brewed coffee and espresso-based drinks account for the majority of sales revenue across all three locations, making them the core product category.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4709160" y="841248"/>
            <a:ext cx="4160520" cy="1828800"/>
          </a:xfrm>
          <a:prstGeom prst="rect">
            <a:avLst/>
          </a:prstGeom>
          <a:solidFill>
            <a:srgbClr val="FFFFFF"/>
          </a:solidFill>
          <a:ln w="12700">
            <a:solidFill>
              <a:srgbClr val="DDE6F5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0000"/>
              </a:srgbClr>
            </a:outerShdw>
          </a:effectLst>
        </p:spPr>
      </p:sp>
      <p:sp>
        <p:nvSpPr>
          <p:cNvPr id="11" name="Shape 9"/>
          <p:cNvSpPr/>
          <p:nvPr/>
        </p:nvSpPr>
        <p:spPr>
          <a:xfrm>
            <a:off x="4709160" y="841248"/>
            <a:ext cx="4160520" cy="73152"/>
          </a:xfrm>
          <a:prstGeom prst="rect">
            <a:avLst/>
          </a:prstGeom>
          <a:solidFill>
            <a:srgbClr val="10B981"/>
          </a:solidFill>
          <a:ln w="12700">
            <a:solidFill>
              <a:srgbClr val="10B981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4873752" y="1042416"/>
            <a:ext cx="502920" cy="502920"/>
          </a:xfrm>
          <a:prstGeom prst="ellipse">
            <a:avLst/>
          </a:prstGeom>
          <a:solidFill>
            <a:srgbClr val="10B981"/>
          </a:solidFill>
          <a:ln w="12700">
            <a:solidFill>
              <a:srgbClr val="10B981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4873752" y="1042416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000000"/>
                </a:solidFill>
              </a:rPr>
              <a:t>📍</a:t>
            </a:r>
            <a:endParaRPr lang="en-US" sz="1800" dirty="0"/>
          </a:p>
        </p:txBody>
      </p:sp>
      <p:sp>
        <p:nvSpPr>
          <p:cNvPr id="14" name="Text 12"/>
          <p:cNvSpPr/>
          <p:nvPr/>
        </p:nvSpPr>
        <p:spPr>
          <a:xfrm>
            <a:off x="5458968" y="1042416"/>
            <a:ext cx="32461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 High-Traffic NYC Locations</a:t>
            </a:r>
            <a:endParaRPr lang="en-US" sz="1300" dirty="0"/>
          </a:p>
        </p:txBody>
      </p:sp>
      <p:sp>
        <p:nvSpPr>
          <p:cNvPr id="15" name="Text 13"/>
          <p:cNvSpPr/>
          <p:nvPr/>
        </p:nvSpPr>
        <p:spPr>
          <a:xfrm>
            <a:off x="4873752" y="1645920"/>
            <a:ext cx="384048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All stores — Lower Manhattan, Hell's Kitchen, and Astoria — operate in dense urban areas. Location-level performance comparison will be key for expansion decisions.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274320" y="2852928"/>
            <a:ext cx="4160520" cy="1828800"/>
          </a:xfrm>
          <a:prstGeom prst="rect">
            <a:avLst/>
          </a:prstGeom>
          <a:solidFill>
            <a:srgbClr val="FFFFFF"/>
          </a:solidFill>
          <a:ln w="12700">
            <a:solidFill>
              <a:srgbClr val="DDE6F5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0000"/>
              </a:srgbClr>
            </a:outerShdw>
          </a:effectLst>
        </p:spPr>
      </p:sp>
      <p:sp>
        <p:nvSpPr>
          <p:cNvPr id="17" name="Shape 15"/>
          <p:cNvSpPr/>
          <p:nvPr/>
        </p:nvSpPr>
        <p:spPr>
          <a:xfrm>
            <a:off x="274320" y="2852928"/>
            <a:ext cx="4160520" cy="73152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438912" y="3054096"/>
            <a:ext cx="502920" cy="502920"/>
          </a:xfrm>
          <a:prstGeom prst="ellipse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438912" y="3054096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000000"/>
                </a:solidFill>
              </a:rPr>
              <a:t>💰</a:t>
            </a:r>
            <a:endParaRPr lang="en-US" sz="1800" dirty="0"/>
          </a:p>
        </p:txBody>
      </p:sp>
      <p:sp>
        <p:nvSpPr>
          <p:cNvPr id="20" name="Text 18"/>
          <p:cNvSpPr/>
          <p:nvPr/>
        </p:nvSpPr>
        <p:spPr>
          <a:xfrm>
            <a:off x="1024128" y="3054096"/>
            <a:ext cx="32461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Wide Pricing Spread ($0.80 – $45)</a:t>
            </a:r>
            <a:endParaRPr lang="en-US" sz="1300" dirty="0"/>
          </a:p>
        </p:txBody>
      </p:sp>
      <p:sp>
        <p:nvSpPr>
          <p:cNvPr id="21" name="Text 19"/>
          <p:cNvSpPr/>
          <p:nvPr/>
        </p:nvSpPr>
        <p:spPr>
          <a:xfrm>
            <a:off x="438912" y="3657600"/>
            <a:ext cx="384048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56× price range (from a syrup add-on to specialty loose tea) signals strong upsell opportunity. Premium products deserve targeted promotion.</a:t>
            </a:r>
            <a:endParaRPr lang="en-US" sz="1100" dirty="0"/>
          </a:p>
        </p:txBody>
      </p:sp>
      <p:sp>
        <p:nvSpPr>
          <p:cNvPr id="22" name="Shape 20"/>
          <p:cNvSpPr/>
          <p:nvPr/>
        </p:nvSpPr>
        <p:spPr>
          <a:xfrm>
            <a:off x="4709160" y="2852928"/>
            <a:ext cx="4160520" cy="1828800"/>
          </a:xfrm>
          <a:prstGeom prst="rect">
            <a:avLst/>
          </a:prstGeom>
          <a:solidFill>
            <a:srgbClr val="FFFFFF"/>
          </a:solidFill>
          <a:ln w="12700">
            <a:solidFill>
              <a:srgbClr val="DDE6F5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0000"/>
              </a:srgbClr>
            </a:outerShdw>
          </a:effectLst>
        </p:spPr>
      </p:sp>
      <p:sp>
        <p:nvSpPr>
          <p:cNvPr id="23" name="Shape 21"/>
          <p:cNvSpPr/>
          <p:nvPr/>
        </p:nvSpPr>
        <p:spPr>
          <a:xfrm>
            <a:off x="4709160" y="2852928"/>
            <a:ext cx="4160520" cy="73152"/>
          </a:xfrm>
          <a:prstGeom prst="rect">
            <a:avLst/>
          </a:prstGeom>
          <a:solidFill>
            <a:srgbClr val="8B5CF6"/>
          </a:solidFill>
          <a:ln w="12700">
            <a:solidFill>
              <a:srgbClr val="8B5CF6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4873752" y="3054096"/>
            <a:ext cx="502920" cy="502920"/>
          </a:xfrm>
          <a:prstGeom prst="ellipse">
            <a:avLst/>
          </a:prstGeom>
          <a:solidFill>
            <a:srgbClr val="8B5CF6"/>
          </a:solidFill>
          <a:ln w="12700">
            <a:solidFill>
              <a:srgbClr val="8B5CF6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4873752" y="3054096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000000"/>
                </a:solidFill>
              </a:rPr>
              <a:t>📅</a:t>
            </a:r>
            <a:endParaRPr lang="en-US" sz="1800" dirty="0"/>
          </a:p>
        </p:txBody>
      </p:sp>
      <p:sp>
        <p:nvSpPr>
          <p:cNvPr id="26" name="Text 24"/>
          <p:cNvSpPr/>
          <p:nvPr/>
        </p:nvSpPr>
        <p:spPr>
          <a:xfrm>
            <a:off x="5458968" y="3054096"/>
            <a:ext cx="32461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6-Month Baseline Established</a:t>
            </a:r>
            <a:endParaRPr lang="en-US" sz="1300" dirty="0"/>
          </a:p>
        </p:txBody>
      </p:sp>
      <p:sp>
        <p:nvSpPr>
          <p:cNvPr id="27" name="Text 25"/>
          <p:cNvSpPr/>
          <p:nvPr/>
        </p:nvSpPr>
        <p:spPr>
          <a:xfrm>
            <a:off x="4873752" y="3657600"/>
            <a:ext cx="384048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H1 2023 data provides a clean seasonal baseline. Q3/Q4 comparisons will reveal whether summer or festive periods drive peak performance.</a:t>
            </a:r>
            <a:endParaRPr lang="en-US" sz="11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1B2A4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64592" cy="5143500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48640" y="457200"/>
            <a:ext cx="80467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spc="30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NEXT STEPS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48640" y="1115568"/>
            <a:ext cx="5029200" cy="36576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548640" y="1371600"/>
            <a:ext cx="384048" cy="384048"/>
          </a:xfrm>
          <a:prstGeom prst="ellipse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548640" y="137160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1078992" y="1325880"/>
            <a:ext cx="76809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D0DC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Build Excel PivotCharts for peak sales time, revenue by category, units sold, and best/least liked products.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548640" y="2176272"/>
            <a:ext cx="384048" cy="384048"/>
          </a:xfrm>
          <a:prstGeom prst="ellipse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548640" y="2176272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1078992" y="2130552"/>
            <a:ext cx="76809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D0DC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Compare store-level performance across Lower Manhattan, Hell's Kitchen, and Astoria.</a:t>
            </a:r>
            <a:endParaRPr lang="en-US" sz="1300" dirty="0"/>
          </a:p>
        </p:txBody>
      </p:sp>
      <p:sp>
        <p:nvSpPr>
          <p:cNvPr id="11" name="Shape 9"/>
          <p:cNvSpPr/>
          <p:nvPr/>
        </p:nvSpPr>
        <p:spPr>
          <a:xfrm>
            <a:off x="548640" y="2980944"/>
            <a:ext cx="384048" cy="384048"/>
          </a:xfrm>
          <a:prstGeom prst="ellipse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548640" y="2980944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400" dirty="0"/>
          </a:p>
        </p:txBody>
      </p:sp>
      <p:sp>
        <p:nvSpPr>
          <p:cNvPr id="13" name="Text 11"/>
          <p:cNvSpPr/>
          <p:nvPr/>
        </p:nvSpPr>
        <p:spPr>
          <a:xfrm>
            <a:off x="1078992" y="2935224"/>
            <a:ext cx="76809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D0DC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Identify top 5 and bottom 5 products by transaction volume to guide menu decisions.</a:t>
            </a:r>
            <a:endParaRPr lang="en-US" sz="1300" dirty="0"/>
          </a:p>
        </p:txBody>
      </p:sp>
      <p:sp>
        <p:nvSpPr>
          <p:cNvPr id="14" name="Shape 12"/>
          <p:cNvSpPr/>
          <p:nvPr/>
        </p:nvSpPr>
        <p:spPr>
          <a:xfrm>
            <a:off x="548640" y="3785616"/>
            <a:ext cx="384048" cy="384048"/>
          </a:xfrm>
          <a:prstGeom prst="ellipse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548640" y="3785616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400" dirty="0"/>
          </a:p>
        </p:txBody>
      </p:sp>
      <p:sp>
        <p:nvSpPr>
          <p:cNvPr id="16" name="Text 14"/>
          <p:cNvSpPr/>
          <p:nvPr/>
        </p:nvSpPr>
        <p:spPr>
          <a:xfrm>
            <a:off x="1078992" y="3739896"/>
            <a:ext cx="76809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D0DC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Expand dataset to H2 2023 to enable full-year trend and seasonality analysis.</a:t>
            </a:r>
            <a:endParaRPr lang="en-US" sz="1300" dirty="0"/>
          </a:p>
        </p:txBody>
      </p:sp>
      <p:sp>
        <p:nvSpPr>
          <p:cNvPr id="17" name="Text 15"/>
          <p:cNvSpPr/>
          <p:nvPr/>
        </p:nvSpPr>
        <p:spPr>
          <a:xfrm>
            <a:off x="274320" y="4800600"/>
            <a:ext cx="85953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4A6F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Bright Coffee Shop  |  Data Analysis 2023  |  github.com/Aobakwe2025/Bright-Coffee-Shop</a:t>
            </a:r>
            <a:endParaRPr lang="en-US" sz="9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6</Slides>
  <Notes>6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6</vt:i4>
      </vt:variant>
    </vt:vector>
  </HeadingPairs>
  <TitlesOfParts>
    <vt:vector size="9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Bright Coffee Shop – CEO Analysis Deck</dc:title>
  <dc:subject>PptxGenJS Presentation</dc:subject>
  <dc:creator>PptxGenJS</dc:creator>
  <cp:lastModifiedBy>PptxGenJS</cp:lastModifiedBy>
  <cp:revision>1</cp:revision>
  <dcterms:created xsi:type="dcterms:W3CDTF">2026-03-23T12:14:36Z</dcterms:created>
  <dcterms:modified xsi:type="dcterms:W3CDTF">2026-03-23T12:14:36Z</dcterms:modified>
</cp:coreProperties>
</file>